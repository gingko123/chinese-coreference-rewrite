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e36b4bd4754d66" /><Relationship Type="http://schemas.openxmlformats.org/officeDocument/2006/relationships/extended-properties" Target="/docProps/app.xml" Id="Rc3391eaba94c4a6d" /><Relationship Type="http://schemas.openxmlformats.org/officeDocument/2006/relationships/officeDocument" Target="/ppt/presentation.xml" Id="R5506bebe0a254b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f6143f1c9b4c68"/>
  </p:sldMasterIdLst>
  <p:notesMasterIdLst>
    <p:notesMasterId xmlns:r="http://schemas.openxmlformats.org/officeDocument/2006/relationships" r:id="R34bd8806f00541c7"/>
  </p:notesMasterIdLst>
  <p:sldIdLst>
    <p:sldId xmlns:r="http://schemas.openxmlformats.org/officeDocument/2006/relationships" id="256" r:id="R3120b9f200be4375"/>
    <p:sldId xmlns:r="http://schemas.openxmlformats.org/officeDocument/2006/relationships" id="257" r:id="R495294bf67294171"/>
    <p:sldId xmlns:r="http://schemas.openxmlformats.org/officeDocument/2006/relationships" id="258" r:id="R7b10af9ccd8e417d"/>
    <p:sldId xmlns:r="http://schemas.openxmlformats.org/officeDocument/2006/relationships" id="259" r:id="Rc59834d075294787"/>
    <p:sldId xmlns:r="http://schemas.openxmlformats.org/officeDocument/2006/relationships" id="260" r:id="Rb6b66e37560044c0"/>
    <p:sldId xmlns:r="http://schemas.openxmlformats.org/officeDocument/2006/relationships" id="261" r:id="R135e5b5d0c414a50"/>
    <p:sldId xmlns:r="http://schemas.openxmlformats.org/officeDocument/2006/relationships" id="262" r:id="Rd43267b46a8c48eb"/>
    <p:sldId xmlns:r="http://schemas.openxmlformats.org/officeDocument/2006/relationships" id="263" r:id="R9344d43f4e3f47d8"/>
    <p:sldId xmlns:r="http://schemas.openxmlformats.org/officeDocument/2006/relationships" id="264" r:id="Reeb827cd0fa04baa"/>
    <p:sldId xmlns:r="http://schemas.openxmlformats.org/officeDocument/2006/relationships" id="265" r:id="R6ab79da78c9446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25da075e614b78" /><Relationship Type="http://schemas.openxmlformats.org/officeDocument/2006/relationships/slideMaster" Target="/ppt/slideMasters/slideMaster1.xml" Id="Rbaf6143f1c9b4c68" /><Relationship Type="http://schemas.openxmlformats.org/officeDocument/2006/relationships/notesMaster" Target="/ppt/notesMasters/notesMaster1.xml" Id="R34bd8806f00541c7" /><Relationship Type="http://schemas.openxmlformats.org/officeDocument/2006/relationships/presProps" Target="/ppt/presProps.xml" Id="Rc57e6a2653034d33" /><Relationship Type="http://schemas.openxmlformats.org/officeDocument/2006/relationships/tableStyles" Target="/ppt/tableStyles.xml" Id="R99e47470eb8344be" /><Relationship Type="http://schemas.openxmlformats.org/officeDocument/2006/relationships/slide" Target="/ppt/slides/slide1.xml" Id="R3120b9f200be4375" /><Relationship Type="http://schemas.openxmlformats.org/officeDocument/2006/relationships/slide" Target="/ppt/slides/slide2.xml" Id="R495294bf67294171" /><Relationship Type="http://schemas.openxmlformats.org/officeDocument/2006/relationships/slide" Target="/ppt/slides/slide3.xml" Id="R7b10af9ccd8e417d" /><Relationship Type="http://schemas.openxmlformats.org/officeDocument/2006/relationships/slide" Target="/ppt/slides/slide4.xml" Id="Rc59834d075294787" /><Relationship Type="http://schemas.openxmlformats.org/officeDocument/2006/relationships/slide" Target="/ppt/slides/slide5.xml" Id="Rb6b66e37560044c0" /><Relationship Type="http://schemas.openxmlformats.org/officeDocument/2006/relationships/slide" Target="/ppt/slides/slide6.xml" Id="R135e5b5d0c414a50" /><Relationship Type="http://schemas.openxmlformats.org/officeDocument/2006/relationships/slide" Target="/ppt/slides/slide7.xml" Id="Rd43267b46a8c48eb" /><Relationship Type="http://schemas.openxmlformats.org/officeDocument/2006/relationships/slide" Target="/ppt/slides/slide8.xml" Id="R9344d43f4e3f47d8" /><Relationship Type="http://schemas.openxmlformats.org/officeDocument/2006/relationships/slide" Target="/ppt/slides/slide9.xml" Id="Reeb827cd0fa04baa" /><Relationship Type="http://schemas.openxmlformats.org/officeDocument/2006/relationships/slide" Target="/ppt/slides/slide10.xml" Id="R6ab79da78c9446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432d057c9d4b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50ee5fec3d4730" /><Relationship Type="http://schemas.openxmlformats.org/officeDocument/2006/relationships/notesMaster" Target="/ppt/notesMasters/notesMaster1.xml" Id="R20035ff3c3b249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d53045a1fe411a" /><Relationship Type="http://schemas.openxmlformats.org/officeDocument/2006/relationships/notesMaster" Target="/ppt/notesMasters/notesMaster1.xml" Id="Rc8e3d80eb80542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0c317da95e44af" /><Relationship Type="http://schemas.openxmlformats.org/officeDocument/2006/relationships/notesMaster" Target="/ppt/notesMasters/notesMaster1.xml" Id="R5ec894cdc35646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b66e20eeac4a2b" /><Relationship Type="http://schemas.openxmlformats.org/officeDocument/2006/relationships/notesMaster" Target="/ppt/notesMasters/notesMaster1.xml" Id="R1022ec5aebda49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e80a10884a481a" /><Relationship Type="http://schemas.openxmlformats.org/officeDocument/2006/relationships/notesMaster" Target="/ppt/notesMasters/notesMaster1.xml" Id="R078a7e67db4545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3eb3f888a84571" /><Relationship Type="http://schemas.openxmlformats.org/officeDocument/2006/relationships/notesMaster" Target="/ppt/notesMasters/notesMaster1.xml" Id="R2b7e5b26d9b144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d2e1393e774189" /><Relationship Type="http://schemas.openxmlformats.org/officeDocument/2006/relationships/notesMaster" Target="/ppt/notesMasters/notesMaster1.xml" Id="Rbc974b6ec0474e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c14eb2f4f24bad" /><Relationship Type="http://schemas.openxmlformats.org/officeDocument/2006/relationships/notesMaster" Target="/ppt/notesMasters/notesMaster1.xml" Id="Rc0c164a5d4b543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471f25279c42a5" /><Relationship Type="http://schemas.openxmlformats.org/officeDocument/2006/relationships/notesMaster" Target="/ppt/notesMasters/notesMaster1.xml" Id="Rbd0f4f70660045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5a08fdce994d0a" /><Relationship Type="http://schemas.openxmlformats.org/officeDocument/2006/relationships/notesMaster" Target="/ppt/notesMasters/notesMaster1.xml" Id="R8c43b3343ebc49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d86aa6b7fe47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f180ce9b364fb2" /><Relationship Type="http://schemas.openxmlformats.org/officeDocument/2006/relationships/slideLayout" Target="/ppt/slideLayouts/slideLayout1.xml" Id="R849cf3c266a54d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9cf3c266a54d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72004c3494350" /><Relationship Type="http://schemas.openxmlformats.org/officeDocument/2006/relationships/notesSlide" Target="/ppt/notesSlides/notesSlide1.xml" Id="R9a17e4edd9bb44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358599e724df0" /><Relationship Type="http://schemas.openxmlformats.org/officeDocument/2006/relationships/notesSlide" Target="/ppt/notesSlides/notesSlide2.xml" Id="R6307fbdabbdf4a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0eec330bb4983" /><Relationship Type="http://schemas.openxmlformats.org/officeDocument/2006/relationships/notesSlide" Target="/ppt/notesSlides/notesSlide3.xml" Id="R87f812126eaf49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1d2002ca64d84" /><Relationship Type="http://schemas.openxmlformats.org/officeDocument/2006/relationships/notesSlide" Target="/ppt/notesSlides/notesSlide4.xml" Id="R881f1ce6009648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3f7fc9cfa4d1b" /><Relationship Type="http://schemas.openxmlformats.org/officeDocument/2006/relationships/notesSlide" Target="/ppt/notesSlides/notesSlide5.xml" Id="R1949dbbeab6c48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eaaa52a0d40c5" /><Relationship Type="http://schemas.openxmlformats.org/officeDocument/2006/relationships/notesSlide" Target="/ppt/notesSlides/notesSlide6.xml" Id="R754fd146d7894e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27036543a4154" /><Relationship Type="http://schemas.openxmlformats.org/officeDocument/2006/relationships/notesSlide" Target="/ppt/notesSlides/notesSlide7.xml" Id="Rdcb13e10f1e344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a1dfba3c24c27" /><Relationship Type="http://schemas.openxmlformats.org/officeDocument/2006/relationships/notesSlide" Target="/ppt/notesSlides/notesSlide8.xml" Id="R009930a941224c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6a74ed6954000" /><Relationship Type="http://schemas.openxmlformats.org/officeDocument/2006/relationships/notesSlide" Target="/ppt/notesSlides/notesSlide9.xml" Id="Rf4b92786956648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f648d78344797" /><Relationship Type="http://schemas.openxmlformats.org/officeDocument/2006/relationships/notesSlide" Target="/ppt/notesSlides/notesSlide10.xml" Id="Re4f8a90b53324c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AE5EE9-8067-4547-87E4-0A4286BD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2E177-0A5E-47E6-A1CA-0E22F7F2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9249C-AD31-483D-B2B5-F27FB57F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rPr>
              <a:t>自然语言处理期末项目 · 更新版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3A9CE-46DF-4695-9D47-803AC322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中文指代消解与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句子改写系统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20FF5-3B78-4212-A0C0-8579FCE1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2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8E2EE"/>
                </a:solidFill>
                <a:latin typeface="Microsoft YaHei"/>
                <a:ea typeface="Microsoft YaHei"/>
                <a:cs typeface="Microsoft YaHei"/>
              </a:rPr>
              <a:t>新增 HanLP/LTP 增强接口、真实语料数据集和错误类型分析。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22A63-DB65-4F2D-8CD0-AF1155D5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1752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BE516-E852-42B9-BD58-5403BCF8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002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3CA28-7CBA-4E92-9EDA-115E2C7A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812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数据集入口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35522-18FA-49B0-980D-52450368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669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demo/dev/test/real/all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FD07A-EFA1-4BA5-AF85-D4547C7D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28750"/>
            <a:ext cx="1752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D1F24-CBC2-475E-AC2C-F4A08E7A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002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01B02-C610-4D48-B2FB-C8B1C336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812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NLP 后端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44140-1739-4608-B8EE-9D20C3DD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669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规则 / HanLP / LTP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EB770-3C29-40AE-B075-E70CEE97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1752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C4E3B-C0C4-4B1D-8FF5-2AE8C776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242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85.7%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6262E-54ED-48A0-A7D1-0F58521D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052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真实语料 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D92D6-423E-4A17-875D-4DE9FF18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909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暴露规则局限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F89BA9-5DDB-45C6-A448-EC6C6CB8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552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C7D6"/>
                </a:solidFill>
                <a:latin typeface="Microsoft YaHei"/>
                <a:ea typeface="Microsoft YaHei"/>
                <a:cs typeface="Microsoft YaHei"/>
              </a:rPr>
              <a:t>成员：________  学号：________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EE96D-259F-4A8F-BD60-EAD71B6C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579FFC-031F-419B-85A3-DA4CC86B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37608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BA9CD4-B652-41A6-92CE-D11C9B76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4D889-7910-46EB-8C3E-D840915E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E005D-D0EA-4A50-80DF-CFBC497D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F7183-C74C-4AF6-9742-10F613CA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指代词很短，却会阻断机器对文本的理解。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04735-69AC-4E5B-A245-174F8BAE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43434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64F19-DEEC-4B14-B52A-56D0D1E7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原始句子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E4C47-7979-45C4-BC0D-EDE0CAC3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小明把书给了小红，</a:t>
            </a:r>
          </a:p>
          <a:p xmlns:a="http://schemas.openxmlformats.org/drawingml/2006/main">
            <a:pPr algn="l">
              <a:defRPr sz="22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因为她需要它。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C941C-D935-4075-AFB0-107B4C8C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问题：她是谁？它是什么？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BEAA2-7F84-40A4-85EF-E62FF8AB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43434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AD2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758CA-F6BA-4916-B935-B53D4854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明确关系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2C8C1-7BDC-491E-9355-90831B0C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她  →  小红</a:t>
            </a:r>
          </a:p>
          <a:p xmlns:a="http://schemas.openxmlformats.org/drawingml/2006/main">
            <a:pPr algn="l">
              <a:defRPr sz="25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它  →  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AD3B1-8D1A-4B3F-9DE3-695AD8A7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解决：显式建模实体链，再改写文本。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A9E29-64D4-4445-A746-F631BABA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21892-600A-448E-9A98-D76DEDD0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85370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87F2B1-E62D-42C6-A010-34814716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2D890-42AC-4CAD-A64C-97962C80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8755B-9777-44E1-8689-91740118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A0321-9663-4DB6-807B-976B94E5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系统目标不是生成新故事，而是把原文中的隐含指代说清楚。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2F5DD-B2F8-4957-ADCE-E9ED67C3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C8157-B559-4E25-9230-2E1C5538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D7CCA-F3AA-497F-B8C7-D1390D7B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小红买了一部手机，</a:t>
            </a:r>
          </a:p>
          <a:p xmlns:a="http://schemas.openxmlformats.org/drawingml/2006/main">
            <a:pPr algn="l">
              <a:defRPr sz="20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她很喜欢它。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8E306-9421-4ADA-B8A7-109B10AB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33625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5F0B3-BA7E-4964-ABBC-489B4E7A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9077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识别代词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3C07B-F166-4B1C-BB84-03B92D85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14675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6D031-48D0-4155-8736-D2BD4F16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7182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预测先行词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420C8-ACA1-40FF-A210-E619570F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95725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67F31-23C9-4A1D-8B17-D06566E4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5287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生成改写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CC345-2DED-4E29-905C-FC553362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3619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B7E1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E7281-0BBC-4FD8-B6A5-DEBA04F8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E29D2-514D-4131-A6BF-F7FA8AC8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3048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她 → 小红</a:t>
            </a:r>
          </a:p>
          <a:p xmlns:a="http://schemas.openxmlformats.org/drawingml/2006/main">
            <a:pPr algn="l">
              <a:def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它 → 手机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小红买了一部手机，</a:t>
            </a:r>
          </a:p>
          <a:p xmlns:a="http://schemas.openxmlformats.org/drawingml/2006/main">
            <a:pPr algn="l">
              <a:def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小红很喜欢手机。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B32D86-D2E6-4AF0-9E2F-195D091C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输出同时服务两个目的：可解释的指代关系 + 可阅读的改写文本。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DC285-9F5D-42A8-A0CE-C54ED6B4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5724F-5B9C-4CE9-9CA0-B3E9BA66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612862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919F2F-179D-4812-960B-580D5B09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3D9FB-1D0E-4ABA-83B9-4640BF17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9D514-2798-4415-93B0-B4BC423F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9321E-525F-484D-B45F-CD5A9793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新增 NLP 后端接口后，系统变成可扩展流水线。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9D0D6-EE24-4468-8C71-773C6A61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9296B-A0EE-4231-B938-9991DDA7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文本输入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C7F88-98BA-49FA-913F-5D28025E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用户文本 / 示例文本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04566-2C84-4F14-8EA8-3A1D0C19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05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36F3A-52D0-47D6-9E91-8CFE9E3F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717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C7D2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7B03B-368F-4978-B576-7E898FC1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813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NLP 后端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4C8C3-FB58-4F3F-AFFE-1486DA7F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62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规则 / HanLP / LTP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A20BD-D788-439C-A6FE-C15DBDBC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8856C-D0F4-4F86-B155-C80C2E65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717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E1433-657B-4907-8EC0-9084F54D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813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候选生成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42209-6C7F-4CA4-B87D-C3B77EFC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62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实体 + 代词 + 核心名词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F35551-531E-489B-91B7-B591838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05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388A4-20A9-4AE0-85D1-CFFF70B8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7D2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4CFB6-94F0-41C0-9C33-F3549296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813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规则打分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9F5D1D-127B-4864-82DE-A0E770C7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62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距离 / 类型 / 性别 / 位置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50FA9-184F-4C92-A899-A66C8598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05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15AFD-7ED6-4EF6-B7A2-C8FBCB72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4BC34-1348-4B5A-B80B-DAF2113C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813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展示评估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DE269-05D1-4BA5-8452-91478AAE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62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改写 / 指标 / 错误分析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A4F53B-F55F-429C-B9F1-B36D7F24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00550"/>
            <a:ext cx="7886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3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EC7875-5A9C-470B-9B41-1858AAAA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10100"/>
            <a:ext cx="714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新增文件：nlp_backend.py  +  mention_extractor_types.py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核心链路：extract → resolve → rewrite → evaluate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6E7220-7627-4B13-98E9-86632833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897246-B43A-414E-9F21-82098D5D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398305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E76DA7-C3DE-41E1-89BE-D389564B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C8A23-2DFC-4055-8F43-3990A991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01E24-5A8F-4CC3-87D2-AA3E513F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RULE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569B2-5D11-4062-A3BF-652CC2B2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候选实体的分数仍由四个可解释信号驱动。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412D9-6988-421A-B109-C9F1EB29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885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4749F-5708-4307-A4EC-011666F7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336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距离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9F0A3-5D21-4084-AECD-A37EAFE8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33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越靠近代词，越可能是先行词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0CF05-9919-4AA7-B03C-A1CF559E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+0.0 ~ +0.3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E304B-F5CB-43D1-ADCD-652BF18C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885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E1D64-407D-41B3-AD58-27C2AC04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765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D061F-82DD-419A-B5A7-B485136B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765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先行词通常出现在代词之前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0FE6E-4C01-487E-97B4-5BC9EC2D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765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+0.15 / -0.4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528A1-E65B-4CB4-B1C2-ED2D3DF5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885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D8834-84A2-43C0-9F57-771DD41E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95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4F3AE-3DD1-4F23-88D0-A454A973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195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他/她匹配人物，它匹配物体，该公司匹配组织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B2A64-0FEF-45E8-AA27-06E6FAF8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95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+0.45 ~ +0.50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A56B19-48CB-407F-8756-053D854E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885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9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F659D-4374-4B5D-A9F5-A53FA489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62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性别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4DDA7-FCA6-41F7-96DB-F519F4B8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624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他/她与姓名性别线索匹配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1AE861-4EFF-4B84-8D89-8C547381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624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+0.25 / -0.35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6F025-CD09-41D6-9ED8-30A7D3B4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29250"/>
            <a:ext cx="7200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A2DD3C-C4E3-46E7-A3CA-F0736442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final_score = distance + position + type + gender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ED8C8D-D21A-47D5-B6F7-8D6E8536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A3C33-893C-466A-A395-89647BDE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14874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2253EA-FA3A-4062-83F9-308E07D7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10C8A-49CE-4182-93EA-336E6BA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418FB-33CB-4479-B891-FA79FD4C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UPDATE: DATA &amp; BACKENDS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6F065-15F1-43A9-B9C5-3A5F3A83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这一步把项目从“构造样本展示”推进到“真实语料误差分析”。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3D147-FEA8-4868-B27E-567E7594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752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974B7-73C6-4AF6-B0DD-FD023A3D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8F332-A911-4D76-9B3A-056C7DF4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D81B4-00A7-4BC5-A69D-C7FB289B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页面示例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F1C63-DAF5-4E99-BF2F-47CB43D3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24100"/>
            <a:ext cx="1752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DE5C9-E942-424D-B039-167D5336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826EA-EE2A-493E-861D-61F7944C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dev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B852A-3B5A-43FE-9E3A-9CCD3947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623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规则调试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0DE4F-F58B-4261-B409-A80861B9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24100"/>
            <a:ext cx="1752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F7406-4761-4986-B4BF-3BF92E92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044EE-EE1E-40CA-A2BD-3D98CCFD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51863-AA9C-4FBF-9CD2-6BD64249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623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最终评估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AEC8D8-5275-41CC-BC2F-DCABF390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1752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9F133-4C7F-4640-9316-27450EA8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2A7AE1-4718-4319-939B-097DBEB4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real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7E6EE-78C5-4B78-A6D7-97271D67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真实语料风格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E4755-0F3C-44DB-850F-0B065106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7645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08C88-DCC5-4EC0-B31E-0CA35C58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新增能力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2DBBAF-95A6-497A-A7BD-8BD31843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HanLP 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5240E4-CAEF-4F07-B465-F74D4222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62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LTP 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3EBAB3-6415-45D4-80D7-6742A163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• 真实语料集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2ADB16-7098-461D-B837-B979EA0C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86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• 错误类型分类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64B5AF-8424-4A50-B500-B0BC88F1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48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• 自动回退 baseline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D3A177-EC2C-4000-B5DF-163394FD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设计原则：增强功能可选，不破坏默认可运行的规则版 baseline。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3E13B7-9A88-4DF9-911C-9E6A3D49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8A9BAD-D2BC-47A2-BABB-EBD3F182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65943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26E68F-5098-4A18-A450-0FA3B311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AC2EA-1F61-4750-9F99-D95F43B0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D0A84-C53B-4798-98BB-799B2F4B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6E21D-FDFE-44ED-849B-28C0617F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构造数据集保持稳定，真实语料开始暴露规则方法边界。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85CBF-0330-4F1A-8BFE-7604B1C5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8096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FDED8-C103-4ABE-9672-7A4E5D20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313B0-9EED-447F-926A-FC2221CC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20/20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33BAB-C7AD-44F7-A99A-B4C03823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9C483-383D-4BF0-8E49-F91443D5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05100"/>
            <a:ext cx="8096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54061-0DAD-480E-9EA5-61D8E14B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194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dev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FF672-DF2D-4F3D-97A3-ADAC8217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35/35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994E6-E092-45C4-B697-5430C86E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194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519D5-D09A-4923-A654-FADB8198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8096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B14FD-4129-44D5-A5D6-73C78543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EBA7A-2004-4AE2-BF8C-FCF5287F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480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31/31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138F1-652A-4B28-AD2D-74A2C95A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93C5D-89AF-4F9B-808B-CD26962E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8096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50742-B303-4208-9783-D0AA03E0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samples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772CC-CFF3-4858-8296-BBD98B4C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767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86/86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3D7F3-6798-4005-AA74-BC3BEEE6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E9539-CE17-4D13-8662-AC38BB3B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8096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23721-39B1-44FB-B5B5-F61EA779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053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real_corpus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76B6A-CD4F-46F0-803F-F5AB42E2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053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12/14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8E0D2F-9B42-4E76-A5E3-2AFDB022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053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85.71%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E78112-4047-4696-A4EB-4ECB71AA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245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指标口径：关系级 P/R/F1。真实语料保留错误样本，用于说明规则系统的局限。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1AA7DF-202C-4A72-A7CF-49310B2E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D0156C-156C-4791-932C-222BD12C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451550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C4D0E9-5AA2-4DE6-80F1-2CB8B595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3DE8F-5215-4272-8CFA-0BCF7FF8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6B3DF-39C5-4BEF-90DE-0A426FD6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DEMO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BAD04-4F3A-4969-8204-8ED4370C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页面现在能选择 NLP 后端，也能评估真实语料集。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BD4E6-7F6D-4D4C-AA85-7E7517BC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9527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13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64F6A-C246-4C5D-9EB7-FB3AC809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812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侧边栏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6BBDF-08F1-4DDA-9B0E-4EE38371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2190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2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E2EE"/>
                </a:solidFill>
                <a:latin typeface="Microsoft YaHei"/>
                <a:ea typeface="Microsoft YaHei"/>
                <a:cs typeface="Microsoft YaHei"/>
              </a:rPr>
              <a:t>NLP 后端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8E2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E2EE"/>
                </a:solidFill>
                <a:latin typeface="Microsoft YaHei"/>
                <a:ea typeface="Microsoft YaHei"/>
                <a:cs typeface="Microsoft YaHei"/>
              </a:rPr>
              <a:t>• 规则版 baseline</a:t>
            </a:r>
          </a:p>
          <a:p xmlns:a="http://schemas.openxmlformats.org/drawingml/2006/main">
            <a:pPr algn="l">
              <a:defRPr sz="1350" b="0">
                <a:solidFill>
                  <a:srgbClr val="D8E2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E2EE"/>
                </a:solidFill>
                <a:latin typeface="Microsoft YaHei"/>
                <a:ea typeface="Microsoft YaHei"/>
                <a:cs typeface="Microsoft YaHei"/>
              </a:rPr>
              <a:t>• HanLP 增强接口</a:t>
            </a:r>
          </a:p>
          <a:p xmlns:a="http://schemas.openxmlformats.org/drawingml/2006/main">
            <a:pPr algn="l">
              <a:defRPr sz="1350" b="0">
                <a:solidFill>
                  <a:srgbClr val="D8E2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E2EE"/>
                </a:solidFill>
                <a:latin typeface="Microsoft YaHei"/>
                <a:ea typeface="Microsoft YaHei"/>
                <a:cs typeface="Microsoft YaHei"/>
              </a:rPr>
              <a:t>• LTP 增强接口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8E2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E2EE"/>
                </a:solidFill>
                <a:latin typeface="Microsoft YaHei"/>
                <a:ea typeface="Microsoft YaHei"/>
                <a:cs typeface="Microsoft YaHei"/>
              </a:rPr>
              <a:t>未安装时自动提示并回退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422FF-3E2F-439A-9CF2-DD347D05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29527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07AA5-FFD1-467D-AF9A-2E5D4EA2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8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单文本分析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8D00A-6AB2-41CF-A590-98FC8FF2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• 原文高亮</a:t>
            </a:r>
          </a:p>
          <a:p xmlns:a="http://schemas.openxmlformats.org/drawingml/2006/main">
            <a:pPr algn="l">
              <a:def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• 候选实体</a:t>
            </a:r>
          </a:p>
          <a:p xmlns:a="http://schemas.openxmlformats.org/drawingml/2006/main">
            <a:pPr algn="l">
              <a:def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• 指代关系</a:t>
            </a:r>
          </a:p>
          <a:p xmlns:a="http://schemas.openxmlformats.org/drawingml/2006/main">
            <a:pPr algn="l">
              <a:def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• 候选得分</a:t>
            </a:r>
          </a:p>
          <a:p xmlns:a="http://schemas.openxmlformats.org/drawingml/2006/main">
            <a:pPr algn="l">
              <a:def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• 改写结果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39852-928C-4127-BBA8-7CB0E7BE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9527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AD2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F8EDC-19C9-4E95-97CE-596BE397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数据集评估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D68A9-87F5-41CA-BAFB-616F6A5D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7180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• demo/dev/test</a:t>
            </a:r>
          </a:p>
          <a:p xmlns:a="http://schemas.openxmlformats.org/drawingml/2006/main">
            <a:pPr algn="l">
              <a:def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• real_corpus</a:t>
            </a:r>
          </a:p>
          <a:p xmlns:a="http://schemas.openxmlformats.org/drawingml/2006/main">
            <a:pPr algn="l">
              <a:def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• P/R/F1</a:t>
            </a:r>
          </a:p>
          <a:p xmlns:a="http://schemas.openxmlformats.org/drawingml/2006/main">
            <a:pPr algn="l">
              <a:def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• 错误类型</a:t>
            </a:r>
          </a:p>
          <a:p xmlns:a="http://schemas.openxmlformats.org/drawingml/2006/main">
            <a:pPr algn="l">
              <a:def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• 漏判与误判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5B004-B531-43B1-98DD-6D02CD90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76707-910E-4602-9EDB-A074E25E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13381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B0AF27-1CF5-4519-96DE-CD2A234A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7DDC0-B90F-47D0-BB97-C9A92911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6B1E5-9F9F-4C5E-B9BE-C9BA55AE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ERROR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42D47-CE0E-4EC1-B932-511D463B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真实语料样本让错误不再只是数字，而是可解释的失败案例。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F8B77-AF0A-4320-81D1-82DDBCFA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9810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5B7B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019FC-E56D-40FC-804F-CF8A0022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错误样本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39E64-2449-4D81-886D-B32FAB4C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800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202B"/>
                </a:solidFill>
                <a:latin typeface="Microsoft YaHei"/>
                <a:ea typeface="Microsoft YaHei"/>
                <a:cs typeface="Microsoft YaHei"/>
              </a:rPr>
              <a:t>上海市启动了城市更新计划，该城市希望它改善居民生活环境。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999F0-37ED-4B56-9431-F1F3D3B8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14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真实：该城市 → 上海市， 它 → 计划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441F9-C6EF-473E-8BD8-F5B5466A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814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预测：该城市 → 计划， 它 → 城市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16EA3-0992-4E83-A66A-3696A42D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7810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F1B83-30A7-4E92-BDC4-8B48C632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482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错误类型：先行词错误。原因：规则偏好近距离实体，缺少城市名识别和语义判断。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02E4F-CF3C-4B7D-B1C1-2F621024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0BCF4-157D-4E02-80D5-771A2EC2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A817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183433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587779-C0D2-4DF5-872C-CB69D646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88875-D271-4102-B9EA-8A4241C1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rPr>
              <a:t>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DC2B4-4837-41AF-BB9B-D921D124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项目已完成可运行 baseline，并具备向真实 NLP 工具扩展的结构。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76F3C-EBAF-4563-BA2F-D1B544BF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00375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79EF8-D650-4A30-B04D-111097D6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2352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D8076-3896-4724-8003-B75A623C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2352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 baseline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Streamlit Demo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HanLP/LTP 接口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真实语料错误分析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16723-D704-40B1-9F3E-F759A5CB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3000375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27597-BD80-427C-8403-A46576F3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05150"/>
            <a:ext cx="2352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3124D-2DF9-4695-86CE-0033A667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62350"/>
            <a:ext cx="2352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安装并接入 HanLP/LTP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扩大真实语料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优化城市/组织识别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E2F62-B436-4242-A718-8E5DFAB0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3000375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13CCF-9429-4AA7-963F-F08CC994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2352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F6FF3-88F8-4404-BC79-3A2154E6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62350"/>
            <a:ext cx="2352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BERT 语义匹配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更自然的改写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面向问答场景应用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B84FD-9A75-42EE-8C96-03FD00D6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58CA5-C832-43F1-BD66-AE71A489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17413-CE9C-40F9-AD31-35338F80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AB6C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1865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2026-06-17T04:45:27.4550000Z</dcterms:created>
  <dcterms:modified xsi:type="dcterms:W3CDTF">2026-06-17T04:45:27.4550000Z</dcterms:modified>
</coreProperties>
</file>